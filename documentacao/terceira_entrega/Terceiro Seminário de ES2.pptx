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  <p:embeddedFont>
      <p:font typeface="Maven Pro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5.xml"/><Relationship Id="rId22" Type="http://schemas.openxmlformats.org/officeDocument/2006/relationships/font" Target="fonts/Nunito-boldItalic.fntdata"/><Relationship Id="rId10" Type="http://schemas.openxmlformats.org/officeDocument/2006/relationships/slide" Target="slides/slide4.xml"/><Relationship Id="rId21" Type="http://schemas.openxmlformats.org/officeDocument/2006/relationships/font" Target="fonts/Nunito-italic.fntdata"/><Relationship Id="rId13" Type="http://schemas.openxmlformats.org/officeDocument/2006/relationships/slide" Target="slides/slide7.xml"/><Relationship Id="rId24" Type="http://schemas.openxmlformats.org/officeDocument/2006/relationships/font" Target="fonts/MavenPro-bold.fntdata"/><Relationship Id="rId12" Type="http://schemas.openxmlformats.org/officeDocument/2006/relationships/slide" Target="slides/slide6.xml"/><Relationship Id="rId23" Type="http://schemas.openxmlformats.org/officeDocument/2006/relationships/font" Target="fonts/MavenPr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Nunito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f0b5721c3a_0_9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f0b5721c3a_0_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f0b5721c3a_0_9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f0b5721c3a_0_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f0b5721c3a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f0b5721c3a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f0b5721c3a_0_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f0b5721c3a_0_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f0b5721c3a_0_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f0b5721c3a_0_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f0b5721c3a_0_9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f0b5721c3a_0_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f0b5721c3a_0_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f0b5721c3a_0_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f0b5721c3a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f0b5721c3a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f0b5721c3a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f0b5721c3a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f0b5721c3a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f0b5721c3a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f0b5721c3a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f0b5721c3a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f0b5721c3a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f0b5721c3a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56" name="Google Shape;56;p14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57" name="Google Shape;57;p14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14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" name="Google Shape;59;p14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60" name="Google Shape;60;p14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14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14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3" name="Google Shape;63;p14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64" name="Google Shape;64;p14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14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14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14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" name="Google Shape;68;p14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69" name="Google Shape;69;p14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14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4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4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4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4" name="Google Shape;74;p14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75" name="Google Shape;75;p14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" name="Google Shape;77;p14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78" name="Google Shape;78;p14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4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4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1" name="Google Shape;81;p14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" name="Google Shape;82;p14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83" name="Google Shape;83;p14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4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5" name="Google Shape;85;p14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4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4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96" name="Google Shape;96;p15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97" name="Google Shape;97;p15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" name="Google Shape;99;p15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100" name="Google Shape;100;p15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" name="Google Shape;103;p15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104" name="Google Shape;104;p15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5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5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5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8" name="Google Shape;108;p15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109" name="Google Shape;109;p15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110" name="Google Shape;110;p15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5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" name="Google Shape;112;p15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113" name="Google Shape;113;p15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" name="Google Shape;116;p15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117" name="Google Shape;117;p15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" name="Google Shape;121;p15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122" name="Google Shape;122;p15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5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5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5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7" name="Google Shape;127;p15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1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31" name="Google Shape;131;p1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" name="Google Shape;134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1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38" name="Google Shape;138;p1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" name="Google Shape;141;p17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2" name="Google Shape;142;p17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3" name="Google Shape;143;p1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18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46" name="Google Shape;146;p18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8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" name="Google Shape;148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52" name="Google Shape;152;p1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19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" name="Google Shape;155;p19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6" name="Google Shape;156;p1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20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59" name="Google Shape;159;p20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60" name="Google Shape;160;p20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20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20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20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64" name="Google Shape;164;p20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20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20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" name="Google Shape;167;p20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68" name="Google Shape;168;p20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20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0" name="Google Shape;170;p20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21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74" name="Google Shape;174;p21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1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" name="Google Shape;176;p21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7" name="Google Shape;177;p21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8" name="Google Shape;178;p21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9" name="Google Shape;179;p2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22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2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4" name="Google Shape;184;p22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85" name="Google Shape;185;p2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3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88" name="Google Shape;188;p23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89" name="Google Shape;189;p23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23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23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2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3" name="Google Shape;193;p23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94" name="Google Shape;194;p23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23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23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23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2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9" name="Google Shape;199;p23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200" name="Google Shape;200;p23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23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23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2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4" name="Google Shape;204;p23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205" name="Google Shape;205;p23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23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2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23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209" name="Google Shape;209;p23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23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23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3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23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23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215" name="Google Shape;215;p23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23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23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23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23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220" name="Google Shape;220;p23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23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23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23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224" name="Google Shape;224;p23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23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23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23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23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9" name="Google Shape;229;p23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230" name="Google Shape;230;p23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23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23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23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23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235" name="Google Shape;235;p23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23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23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23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23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240" name="Google Shape;240;p23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23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23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23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244" name="Google Shape;244;p23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23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23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23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8" name="Google Shape;248;p23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49" name="Google Shape;249;p23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23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23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23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" name="Google Shape;253;p23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54" name="Google Shape;254;p23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23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23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23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23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23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60" name="Google Shape;260;p23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23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23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23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4" name="Google Shape;264;p23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65" name="Google Shape;265;p23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23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23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8" name="Google Shape;268;p23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69" name="Google Shape;269;p23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23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23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23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3" name="Google Shape;273;p23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74" name="Google Shape;274;p23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23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23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23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23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9" name="Google Shape;279;p23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80" name="Google Shape;280;p23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23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23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23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4" name="Google Shape;284;p23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85" name="Google Shape;285;p23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23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23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8" name="Google Shape;288;p23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89" name="Google Shape;289;p23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23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23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23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23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4" name="Google Shape;294;p23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95" name="Google Shape;295;p23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23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23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23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9" name="Google Shape;299;p23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300" name="Google Shape;300;p23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23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23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23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4" name="Google Shape;304;p23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305" name="Google Shape;305;p23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23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23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8" name="Google Shape;308;p23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309" name="Google Shape;309;p23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23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23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23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3" name="Google Shape;313;p23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4" name="Google Shape;314;p23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Terceiro Seminário de ES2</a:t>
            </a:r>
            <a:endParaRPr/>
          </a:p>
        </p:txBody>
      </p:sp>
      <p:sp>
        <p:nvSpPr>
          <p:cNvPr id="323" name="Google Shape;323;p25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pt-BR"/>
              <a:t>José Victor de Paiva e Silva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pt-BR"/>
              <a:t>Daniel Marcondes Bougleux Sodré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pt-BR"/>
              <a:t>André Fernandes Gonçalves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pt-BR"/>
              <a:t>Juan Müller Pereira Evangelista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pt-BR"/>
              <a:t>Lucas Tavares Souza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6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Detalhamento das Sprints</a:t>
            </a:r>
            <a:endParaRPr/>
          </a:p>
        </p:txBody>
      </p:sp>
      <p:sp>
        <p:nvSpPr>
          <p:cNvPr id="329" name="Google Shape;329;p26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Detalhamento da quarta Sprint</a:t>
            </a:r>
            <a:endParaRPr/>
          </a:p>
        </p:txBody>
      </p:sp>
      <p:sp>
        <p:nvSpPr>
          <p:cNvPr id="335" name="Google Shape;335;p2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6" name="Google Shape;33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5976" y="598575"/>
            <a:ext cx="2143200" cy="4441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313" y="1597863"/>
            <a:ext cx="2695575" cy="21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8"/>
          <p:cNvSpPr txBox="1"/>
          <p:nvPr>
            <p:ph type="ctrTitle"/>
          </p:nvPr>
        </p:nvSpPr>
        <p:spPr>
          <a:xfrm>
            <a:off x="824000" y="1613825"/>
            <a:ext cx="41034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 de Burndown</a:t>
            </a:r>
            <a:endParaRPr/>
          </a:p>
        </p:txBody>
      </p:sp>
      <p:sp>
        <p:nvSpPr>
          <p:cNvPr id="343" name="Google Shape;343;p28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Burndown da quarta sprint</a:t>
            </a:r>
            <a:endParaRPr/>
          </a:p>
        </p:txBody>
      </p:sp>
      <p:sp>
        <p:nvSpPr>
          <p:cNvPr id="349" name="Google Shape;349;p2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0" name="Google Shape;350;p29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1300" y="1275525"/>
            <a:ext cx="5734050" cy="35433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0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Análise de Valor Agregado</a:t>
            </a:r>
            <a:endParaRPr/>
          </a:p>
        </p:txBody>
      </p:sp>
      <p:sp>
        <p:nvSpPr>
          <p:cNvPr id="356" name="Google Shape;356;p30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Análise de valor agregado</a:t>
            </a:r>
            <a:endParaRPr/>
          </a:p>
        </p:txBody>
      </p:sp>
      <p:pic>
        <p:nvPicPr>
          <p:cNvPr id="362" name="Google Shape;362;p31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825" y="1633650"/>
            <a:ext cx="4896499" cy="302575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363" name="Google Shape;363;p31"/>
          <p:cNvSpPr txBox="1"/>
          <p:nvPr/>
        </p:nvSpPr>
        <p:spPr>
          <a:xfrm>
            <a:off x="5727450" y="1633650"/>
            <a:ext cx="30000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/>
              <a:t>Valores Atuais de:</a:t>
            </a:r>
            <a:endParaRPr sz="11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/>
              <a:t>PV: R$ 4.727,32</a:t>
            </a:r>
            <a:endParaRPr sz="11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/>
              <a:t>EV: R$ 3.692,25</a:t>
            </a:r>
            <a:endParaRPr sz="11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/>
              <a:t>AC: R$ 2.883,91</a:t>
            </a:r>
            <a:endParaRPr sz="1100"/>
          </a:p>
        </p:txBody>
      </p:sp>
      <p:sp>
        <p:nvSpPr>
          <p:cNvPr id="364" name="Google Shape;364;p31"/>
          <p:cNvSpPr txBox="1"/>
          <p:nvPr/>
        </p:nvSpPr>
        <p:spPr>
          <a:xfrm>
            <a:off x="5727450" y="2836400"/>
            <a:ext cx="3000000" cy="17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/>
              <a:t>Conclusões matemáticas:</a:t>
            </a:r>
            <a:endParaRPr sz="11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/>
              <a:t>SPI = ev/pv = 3692,25/4727,32 = 0,78 &lt; 1, pois não fizemos todas as tarefas planejadas.</a:t>
            </a:r>
            <a:endParaRPr sz="11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/>
              <a:t>CPI = ev/ac =3692,25/2883,91 = 1,28 &gt; 1, portanto, gastamos menos do que foi planejado.  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/>
              <a:t>Testes</a:t>
            </a:r>
            <a:endParaRPr sz="4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Ferramentas para o Teste</a:t>
            </a:r>
            <a:endParaRPr/>
          </a:p>
        </p:txBody>
      </p:sp>
      <p:pic>
        <p:nvPicPr>
          <p:cNvPr id="375" name="Google Shape;37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550" y="1873475"/>
            <a:ext cx="37528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8275" y="1698738"/>
            <a:ext cx="1746025" cy="174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8600" y="2016325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Cobertura de teste</a:t>
            </a:r>
            <a:endParaRPr/>
          </a:p>
        </p:txBody>
      </p:sp>
      <p:pic>
        <p:nvPicPr>
          <p:cNvPr id="383" name="Google Shape;38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175" y="1720700"/>
            <a:ext cx="7417751" cy="284635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Testes de Unidade &amp; Integração</a:t>
            </a:r>
            <a:endParaRPr/>
          </a:p>
        </p:txBody>
      </p:sp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Consideramos como uma unidade uma classe desenvolvida independentemente das demais.</a:t>
            </a:r>
            <a:endParaRPr sz="18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Nossos testes de unidade visam testar essas classes isoladamente.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pt-BR" sz="1600"/>
              <a:t>Nossos testes de integração visam testar múltiplas classes desenvolvidas isoladamente trabalhando em conjunto.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Arrange, Act &amp; Assert</a:t>
            </a:r>
            <a:endParaRPr/>
          </a:p>
        </p:txBody>
      </p:sp>
      <p:sp>
        <p:nvSpPr>
          <p:cNvPr id="395" name="Google Shape;395;p36"/>
          <p:cNvSpPr txBox="1"/>
          <p:nvPr>
            <p:ph idx="1" type="body"/>
          </p:nvPr>
        </p:nvSpPr>
        <p:spPr>
          <a:xfrm>
            <a:off x="1303800" y="1990050"/>
            <a:ext cx="7030500" cy="29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Arrange:  a primeira etapa, é a elaboração das premissas para a realização do teste. Nessa etapa inicializamos variáveis, atribuímos valores aos campos dos objetos, e tudo o mais do que contamos precisar ter antes de chamar o método testado.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Act: a etapa intermediária, nela realizamos a chamada ao método testado e armazenamos seu retorno, caso haja algum.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Assert: a última etapa, é onde verificamos se a chamada do método na etapa Act, dado o cenário na etapa Arrange, culminou no cenário final esperado.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